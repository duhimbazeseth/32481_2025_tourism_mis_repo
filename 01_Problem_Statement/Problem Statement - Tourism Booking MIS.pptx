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27" y="3509962"/>
            <a:ext cx="9201745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947" y="1900237"/>
            <a:ext cx="6341105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Helvetica Neue"/>
              </a:rPr>
              <a:t>Tourism Booking MIS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0517" y="2757487"/>
            <a:ext cx="514796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b="0" sz="1950" i="0" u="none">
                <a:solidFill>
                  <a:srgbClr val="A7F3D0"/>
                </a:solidFill>
                <a:latin typeface="Helvetica Neue"/>
              </a:rPr>
              <a:t>Phase I: Problem Statement &amp; System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7952" y="3671887"/>
            <a:ext cx="143128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4D399"/>
                </a:solidFill>
                <a:latin typeface="Helvetica Neue"/>
              </a:rPr>
              <a:t>Student Name:</a:t>
            </a:r>
            <a:r>
              <a:rPr b="0" sz="1200" i="0" u="none">
                <a:solidFill>
                  <a:srgbClr val="E2E8F0"/>
                </a:solidFill>
                <a:latin typeface="Helvetica Neue"/>
              </a:rPr>
              <a:t> Seth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4982" y="3671887"/>
            <a:ext cx="170274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4D399"/>
                </a:solidFill>
                <a:latin typeface="Helvetica Neue"/>
              </a:rPr>
              <a:t>Student ID:</a:t>
            </a:r>
            <a:r>
              <a:rPr b="0" sz="1200" i="0" u="none">
                <a:solidFill>
                  <a:srgbClr val="E2E8F0"/>
                </a:solidFill>
                <a:latin typeface="Helvetica Neue"/>
              </a:rPr>
              <a:t> 32481_2025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3475" y="3671887"/>
            <a:ext cx="320173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4D399"/>
                </a:solidFill>
                <a:latin typeface="Helvetica Neue"/>
              </a:rPr>
              <a:t>Course:</a:t>
            </a:r>
            <a:r>
              <a:rPr b="0" sz="1200" i="0" u="none">
                <a:solidFill>
                  <a:srgbClr val="E2E8F0"/>
                </a:solidFill>
                <a:latin typeface="Helvetica Neue"/>
              </a:rPr>
              <a:t> DPR400210 (Database Programming)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964" y="3671887"/>
            <a:ext cx="138008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4D399"/>
                </a:solidFill>
                <a:latin typeface="Helvetica Neue"/>
              </a:rPr>
              <a:t>Institution:</a:t>
            </a:r>
            <a:r>
              <a:rPr b="0" sz="1200" i="0" u="none">
                <a:solidFill>
                  <a:srgbClr val="E2E8F0"/>
                </a:solidFill>
                <a:latin typeface="Helvetica Neue"/>
              </a:rPr>
              <a:t> UNILAK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7825"/>
            <a:ext cx="5867400" cy="3076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1943100"/>
            <a:ext cx="48006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14900"/>
            <a:ext cx="135255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6450" y="4914900"/>
            <a:ext cx="1352550" cy="942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1400" y="4914900"/>
            <a:ext cx="1352550" cy="942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6350" y="4914900"/>
            <a:ext cx="1352550" cy="942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9900" y="1943100"/>
            <a:ext cx="48006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1876425"/>
            <a:ext cx="502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Helvetica Neue"/>
              </a:rPr>
              <a:t>Operational Bottlenecks:</a:t>
            </a:r>
            <a:r>
              <a:rPr b="0" sz="1350" i="0" u="none">
                <a:solidFill>
                  <a:srgbClr val="334155"/>
                </a:solidFill>
                <a:latin typeface="Helvetica Neue"/>
              </a:rPr>
              <a:t> Rwanda's expanding tourism sector faces challenges managing high-volume bookings, tour packages, and payment schedules through fragmented legacy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00350"/>
            <a:ext cx="502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Helvetica Neue"/>
              </a:rPr>
              <a:t>Data Vulnerability &amp; Overlaps:</a:t>
            </a:r>
            <a:r>
              <a:rPr b="0" sz="1350" i="0" u="none">
                <a:solidFill>
                  <a:srgbClr val="334155"/>
                </a:solidFill>
                <a:latin typeface="Helvetica Neue"/>
              </a:rPr>
              <a:t> Absence of centralized schema constraints results in schedule conflicts, unverified payments, and data redundancy.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24275"/>
            <a:ext cx="502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Helvetica Neue"/>
              </a:rPr>
              <a:t>Security Risks:</a:t>
            </a:r>
            <a:r>
              <a:rPr b="0" sz="1350" i="0" u="none">
                <a:solidFill>
                  <a:srgbClr val="334155"/>
                </a:solidFill>
                <a:latin typeface="Helvetica Neue"/>
              </a:rPr>
              <a:t> Lack of strict, time-bound database triggers allows unauthorized data modifications outside working hours and during public holidays.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5038725"/>
            <a:ext cx="1028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65F46"/>
                </a:solidFill>
                <a:latin typeface="Helvetica Neue"/>
              </a:rPr>
              <a:t>Tourists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512" y="5219700"/>
            <a:ext cx="860524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Helvetica Neue"/>
              </a:rPr>
              <a:t>Book Packages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8375" y="5038725"/>
            <a:ext cx="1028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65F46"/>
                </a:solidFill>
                <a:latin typeface="Helvetica Neue"/>
              </a:rPr>
              <a:t>Tour Managers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8501" y="5219700"/>
            <a:ext cx="90844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Helvetica Neue"/>
              </a:rPr>
              <a:t>Capacity &amp; Slots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3325" y="5038725"/>
            <a:ext cx="1028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65F46"/>
                </a:solidFill>
                <a:latin typeface="Helvetica Neue"/>
              </a:rPr>
              <a:t>Finance Officers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3853" y="5381625"/>
            <a:ext cx="667642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Helvetica Neue"/>
              </a:rPr>
              <a:t>Payments &amp;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275" y="5038725"/>
            <a:ext cx="1028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65F46"/>
                </a:solidFill>
                <a:latin typeface="Helvetica Neue"/>
              </a:rPr>
              <a:t>SysAdmins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560" y="5219700"/>
            <a:ext cx="93612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Helvetica Neue"/>
              </a:rPr>
              <a:t>Security &amp; Audits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1905000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2828925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3752850"/>
            <a:ext cx="1333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65F46"/>
                </a:solidFill>
                <a:latin typeface="Helvetica Neue"/>
              </a:rPr>
              <a:t>Problem Definition &amp;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7425"/>
            <a:ext cx="3505200" cy="2990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257425"/>
            <a:ext cx="3505200" cy="2990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2257425"/>
            <a:ext cx="3505200" cy="2990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5" y="2571750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8660" y="3429000"/>
            <a:ext cx="209073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Helvetica Neue"/>
              </a:rPr>
              <a:t>3NF Relational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90950"/>
            <a:ext cx="3028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Helvetica Neue"/>
              </a:rPr>
              <a:t>Design a fully normalized 3NF Oracle database schema ensuring atomic fields, data integrity, zero redundancy, and declarative constraints across tourist profiles, bookings, and payments.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625" y="2571750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7854" y="3429000"/>
            <a:ext cx="283629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Helvetica Neue"/>
              </a:rPr>
              <a:t>Automated Business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790950"/>
            <a:ext cx="30289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Helvetica Neue"/>
              </a:rPr>
              <a:t>Enforce PL/SQL packages, stored procedures, audit logging, and restrictive triggers that block unauthorized DML operations during non-working days and official public holidays.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4525" y="2571750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1355" y="3429000"/>
            <a:ext cx="2213089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Helvetica Neue"/>
              </a:rPr>
              <a:t>Power BI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90950"/>
            <a:ext cx="3028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Helvetica Neue"/>
              </a:rPr>
              <a:t>Deliver real-time operational insights via an interactive Power BI dashboard tracking revenue per package, customer booking trends, and payment fulfillment status.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0750" y="2752725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27527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5500" y="2752725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65F46"/>
                </a:solidFill>
                <a:latin typeface="Helvetica Neue"/>
              </a:rPr>
              <a:t>Objectives &amp; Key Benefits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147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52186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Helvetica Neue"/>
              </a:rPr>
              <a:t>https://cdn.atrsafari.com/cdn/05explore/locations-and-lodges/africa/rwanda/0/stills/00page/01RWAN-IM0001-rwanda-1920.jpg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75523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Helvetica Neue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Helvetica Neue"/>
              </a:rPr>
              <a:t>atrsafari.com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65F46"/>
                </a:solidFill>
                <a:latin typeface="Helvetica Neue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